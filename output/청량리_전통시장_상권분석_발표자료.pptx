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2A2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1512000"/>
            <a:ext cx="21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9AA0AA"/>
                </a:solidFill>
                <a:latin typeface="Apple SD Gothic Neo"/>
                <a:ea typeface="Apple SD Gothic Neo"/>
                <a:cs typeface="Apple SD Gothic Neo"/>
              </a:rPr>
              <a:t>MARKET INTELLIGENCE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1980000"/>
            <a:ext cx="1655999" cy="31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2376000"/>
            <a:ext cx="86400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청량리 전통시장 클러스터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상권분석 및 Pain Point 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4680000"/>
            <a:ext cx="792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C0C4CA"/>
                </a:solidFill>
                <a:latin typeface="Apple SD Gothic Neo"/>
                <a:ea typeface="Apple SD Gothic Neo"/>
                <a:cs typeface="Apple SD Gothic Neo"/>
              </a:rPr>
              <a:t>서울 동대문구 제기동·청량리동·용신동 일대 9개 전통시장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9AA0AA"/>
                </a:solidFill>
                <a:latin typeface="Apple SD Gothic Neo"/>
                <a:ea typeface="Apple SD Gothic Neo"/>
                <a:cs typeface="Apple SD Gothic Neo"/>
              </a:rPr>
              <a:t>2026. 8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5400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6B6257"/>
                </a:solidFill>
                <a:latin typeface="Apple SD Gothic Neo"/>
                <a:ea typeface="Apple SD Gothic Neo"/>
                <a:cs typeface="Apple SD Gothic Neo"/>
              </a:rPr>
              <a:t>01  분석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64000"/>
            <a:ext cx="106092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네 갈래 자료를 교차 검증했다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1655999"/>
            <a:ext cx="1655999" cy="31750"/>
          </a:xfrm>
          <a:prstGeom prst="rect">
            <a:avLst/>
          </a:prstGeom>
          <a:solidFill>
            <a:srgbClr val="2A2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2000" y="2052000"/>
          <a:ext cx="10620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2880000"/>
                <a:gridCol w="1980000"/>
                <a:gridCol w="2880000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자료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단위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기간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용도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서울시 상권분석 추정매출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상권 × 업종 × 분기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2021~2025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매출·시간대·요일·연령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서울시 생활인구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행정동 × 시간 × 연령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2017~2026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배후인구 변화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소상공인시장진흥공단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시장 × 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2006~2023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점포·공실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국세청 상가업소정보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점포 좌표 × 업종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2026.06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공간 검증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2000" y="4824000"/>
            <a:ext cx="106092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443D35"/>
                </a:solidFill>
                <a:latin typeface="Apple SD Gothic Neo"/>
                <a:ea typeface="Apple SD Gothic Neo"/>
                <a:cs typeface="Apple SD Gothic Neo"/>
              </a:rPr>
              <a:t>생활인구 원시 레코드 5,430만 행 · 원본 138GB · 전국 1,812개 시장 교차검증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257"/>
                </a:solidFill>
                <a:latin typeface="Apple SD Gothic Neo"/>
                <a:ea typeface="Apple SD Gothic Neo"/>
                <a:cs typeface="Apple SD Gothic Neo"/>
              </a:rPr>
              <a:t>변이-할당 분석 · 고정효과 패널회귀 · 계층적 군집분석 · 매출 요인분해 · 공간 조인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2E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5400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443D35"/>
                </a:solidFill>
                <a:latin typeface="Apple SD Gothic Neo"/>
                <a:ea typeface="Apple SD Gothic Neo"/>
                <a:cs typeface="Apple SD Gothic Neo"/>
              </a:rPr>
              <a:t>핵심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64000"/>
            <a:ext cx="106092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문제는 쇠퇴가 아니라 성장의 내용이다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1655999"/>
            <a:ext cx="1655999" cy="31750"/>
          </a:xfrm>
          <a:prstGeom prst="rect">
            <a:avLst/>
          </a:prstGeom>
          <a:solidFill>
            <a:srgbClr val="2A2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2520000"/>
            <a:ext cx="5220000" cy="3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1400"/>
              </a:spcAft>
            </a:pPr>
            <a:r>
              <a:rPr sz="15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01   서울 전통시장 283개 중 8개 시장이 상위 20% 이내</a:t>
            </a:r>
          </a:p>
          <a:p>
            <a:pPr>
              <a:lnSpc>
                <a:spcPct val="145000"/>
              </a:lnSpc>
              <a:spcAft>
                <a:spcPts val="1400"/>
              </a:spcAft>
            </a:pPr>
            <a:r>
              <a:rPr sz="15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02   9개 중 8개에서 객단가 하락 — 물량으로 버티는 구조</a:t>
            </a:r>
          </a:p>
          <a:p>
            <a:pPr>
              <a:lnSpc>
                <a:spcPct val="145000"/>
              </a:lnSpc>
              <a:spcAft>
                <a:spcPts val="1400"/>
              </a:spcAft>
            </a:pPr>
            <a:r>
              <a:rPr sz="15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03   서울약령시장만 매출 감소, 원인은 업종이 아닌 입지</a:t>
            </a:r>
          </a:p>
          <a:p>
            <a:pPr>
              <a:lnSpc>
                <a:spcPct val="145000"/>
              </a:lnSpc>
              <a:spcAft>
                <a:spcPts val="1400"/>
              </a:spcAft>
            </a:pPr>
            <a:r>
              <a:rPr sz="15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04   배후인구는 줄지만 매출과의 연결은 확인되지 않음</a:t>
            </a:r>
          </a:p>
          <a:p>
            <a:pPr>
              <a:lnSpc>
                <a:spcPct val="145000"/>
              </a:lnSpc>
              <a:spcAft>
                <a:spcPts val="1400"/>
              </a:spcAft>
            </a:pPr>
            <a:r>
              <a:rPr sz="15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05   집객 성과가 고객 구성 변화로 전환되지 않음</a:t>
            </a:r>
          </a:p>
          <a:p>
            <a:pPr>
              <a:lnSpc>
                <a:spcPct val="145000"/>
              </a:lnSpc>
              <a:spcAft>
                <a:spcPts val="1400"/>
              </a:spcAft>
            </a:pPr>
            <a:r>
              <a:rPr sz="15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06   현행 공실 통계는 정책 근거로 사용 불가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0" y="2664000"/>
            <a:ext cx="4536000" cy="28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5,444</a:t>
            </a:r>
          </a:p>
          <a:p>
            <a:pPr>
              <a:lnSpc>
                <a:spcPct val="140000"/>
              </a:lnSpc>
              <a:spcAft>
                <a:spcPts val="1800"/>
              </a:spcAft>
            </a:pPr>
            <a:r>
              <a:rPr sz="1200" b="0">
                <a:solidFill>
                  <a:srgbClr val="443D35"/>
                </a:solidFill>
                <a:latin typeface="Apple SD Gothic Neo"/>
                <a:ea typeface="Apple SD Gothic Neo"/>
                <a:cs typeface="Apple SD Gothic Neo"/>
              </a:rPr>
              <a:t>인구-매출 관계 검정에 사용한 관측치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6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283</a:t>
            </a:r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443D35"/>
                </a:solidFill>
                <a:latin typeface="Apple SD Gothic Neo"/>
                <a:ea typeface="Apple SD Gothic Neo"/>
                <a:cs typeface="Apple SD Gothic Neo"/>
              </a:rPr>
              <a:t>비교 대상 서울 전통시장 상권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5400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6B6257"/>
                </a:solidFill>
                <a:latin typeface="Apple SD Gothic Neo"/>
                <a:ea typeface="Apple SD Gothic Neo"/>
                <a:cs typeface="Apple SD Gothic Neo"/>
              </a:rPr>
              <a:t>02  상권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64000"/>
            <a:ext cx="106092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청량리는 서울 전통시장 상위권이다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1655999"/>
            <a:ext cx="1655999" cy="31750"/>
          </a:xfrm>
          <a:prstGeom prst="rect">
            <a:avLst/>
          </a:prstGeom>
          <a:solidFill>
            <a:srgbClr val="2A2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052000"/>
            <a:ext cx="6983999" cy="25015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6000" y="2160000"/>
            <a:ext cx="3600000" cy="3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300" b="0">
                <a:solidFill>
                  <a:srgbClr val="443D35"/>
                </a:solidFill>
                <a:latin typeface="Apple SD Gothic Neo"/>
                <a:ea typeface="Apple SD Gothic Neo"/>
                <a:cs typeface="Apple SD Gothic Neo"/>
              </a:rPr>
              <a:t>서울 전통시장 283개의 2021~2025년 매출 성장률 분포에서 청량리 9개의 위치.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200" b="0">
                <a:solidFill>
                  <a:srgbClr val="6B6257"/>
                </a:solidFill>
                <a:latin typeface="Apple SD Gothic Neo"/>
                <a:ea typeface="Apple SD Gothic Neo"/>
                <a:cs typeface="Apple SD Gothic Neo"/>
              </a:rPr>
              <a:t>서울 중위 성장률 4.9%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청량리수산시장 상위 1%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13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동서시장 상위 3%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8C3A1E"/>
                </a:solidFill>
                <a:latin typeface="Apple SD Gothic Neo"/>
                <a:ea typeface="Apple SD Gothic Neo"/>
                <a:cs typeface="Apple SD Gothic Neo"/>
              </a:rPr>
              <a:t>서울약령시장만 하위 25% 구간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5400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6B6257"/>
                </a:solidFill>
                <a:latin typeface="Apple SD Gothic Neo"/>
                <a:ea typeface="Apple SD Gothic Neo"/>
                <a:cs typeface="Apple SD Gothic Neo"/>
              </a:rPr>
              <a:t>03  성장의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64000"/>
            <a:ext cx="106092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거래는 늘고, 단가는 떨어졌다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1655999"/>
            <a:ext cx="1655999" cy="31750"/>
          </a:xfrm>
          <a:prstGeom prst="rect">
            <a:avLst/>
          </a:prstGeom>
          <a:solidFill>
            <a:srgbClr val="2A2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i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052000"/>
            <a:ext cx="6983999" cy="28189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6000" y="2160000"/>
            <a:ext cx="3600000" cy="3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300" b="0">
                <a:solidFill>
                  <a:srgbClr val="443D35"/>
                </a:solidFill>
                <a:latin typeface="Apple SD Gothic Neo"/>
                <a:ea typeface="Apple SD Gothic Neo"/>
                <a:cs typeface="Apple SD Gothic Neo"/>
              </a:rPr>
              <a:t>매출을 거래 건수와 객단가로 나눈 결과.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3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9개 중 8개 시장에서 객단가 하락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200" b="0">
                <a:solidFill>
                  <a:srgbClr val="443D35"/>
                </a:solidFill>
                <a:latin typeface="Apple SD Gothic Neo"/>
                <a:ea typeface="Apple SD Gothic Neo"/>
                <a:cs typeface="Apple SD Gothic Neo"/>
              </a:rPr>
              <a:t>동서시장  건수 +330% / 객단가 −44%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1200" b="0">
                <a:solidFill>
                  <a:srgbClr val="443D35"/>
                </a:solidFill>
                <a:latin typeface="Apple SD Gothic Neo"/>
                <a:ea typeface="Apple SD Gothic Neo"/>
                <a:cs typeface="Apple SD Gothic Neo"/>
              </a:rPr>
              <a:t>경동시장  건수 +109% / 객단가 −31%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6B6257"/>
                </a:solidFill>
                <a:latin typeface="Apple SD Gothic Neo"/>
                <a:ea typeface="Apple SD Gothic Neo"/>
                <a:cs typeface="Apple SD Gothic Neo"/>
              </a:rPr>
              <a:t>매출 총액은 늘었으나 거래 한 건이 만드는 금액은 줄었다.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8C3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5760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0E2E6"/>
                </a:solidFill>
                <a:latin typeface="Apple SD Gothic Neo"/>
                <a:ea typeface="Apple SD Gothic Neo"/>
                <a:cs typeface="Apple SD Gothic Neo"/>
              </a:rPr>
              <a:t>발견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972000"/>
            <a:ext cx="1655999" cy="31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296000"/>
            <a:ext cx="6660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매출은 늘었지만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거래 단가는 떨어졌다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4104000"/>
            <a:ext cx="63000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E0E2E6"/>
                </a:solidFill>
                <a:latin typeface="Apple SD Gothic Neo"/>
                <a:ea typeface="Apple SD Gothic Neo"/>
                <a:cs typeface="Apple SD Gothic Neo"/>
              </a:rPr>
              <a:t>거래 건수는 크게 늘었으나 한 건당 금액은 줄었다. 간편결제로 소액 거래가 기록에 잡힌 영향과 고액 도매가 소매로 바뀐 영향이 함께 있는 것으로 보인다.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E0E2E6"/>
                </a:solidFill>
                <a:latin typeface="Apple SD Gothic Neo"/>
                <a:ea typeface="Apple SD Gothic Neo"/>
                <a:cs typeface="Apple SD Gothic Neo"/>
              </a:rPr>
              <a:t>서울약령시장은 건수가 28% 늘고도 객단가가 31% 떨어져 매출이 11.6% 줄었다.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E0E2E6"/>
                </a:solidFill>
                <a:latin typeface="Apple SD Gothic Neo"/>
                <a:ea typeface="Apple SD Gothic Neo"/>
                <a:cs typeface="Apple SD Gothic Neo"/>
              </a:rPr>
              <a:t>단가를 지탱할 품목이나 서비스가 없으면 물량만으로는 성장을 이어가기 어렵다.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0000" y="1944000"/>
            <a:ext cx="3311999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8/9</a:t>
            </a:r>
          </a:p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E0E2E6"/>
                </a:solidFill>
                <a:latin typeface="Apple SD Gothic Neo"/>
                <a:ea typeface="Apple SD Gothic Neo"/>
                <a:cs typeface="Apple SD Gothic Neo"/>
              </a:rPr>
              <a:t>객단가가 하락한 시장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5400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6B6257"/>
                </a:solidFill>
                <a:latin typeface="Apple SD Gothic Neo"/>
                <a:ea typeface="Apple SD Gothic Neo"/>
                <a:cs typeface="Apple SD Gothic Neo"/>
              </a:rPr>
              <a:t>04  부진 원인 분해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64000"/>
            <a:ext cx="106092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업종 탓인가 입지 탓인가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1655999"/>
            <a:ext cx="1655999" cy="31750"/>
          </a:xfrm>
          <a:prstGeom prst="rect">
            <a:avLst/>
          </a:prstGeom>
          <a:solidFill>
            <a:srgbClr val="2A2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052000"/>
            <a:ext cx="6983999" cy="24570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6000" y="2160000"/>
            <a:ext cx="3600000" cy="3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300" b="0">
                <a:solidFill>
                  <a:srgbClr val="443D35"/>
                </a:solidFill>
                <a:latin typeface="Apple SD Gothic Neo"/>
                <a:ea typeface="Apple SD Gothic Neo"/>
                <a:cs typeface="Apple SD Gothic Neo"/>
              </a:rPr>
              <a:t>매출 변화를 서울 전체 성장분, 업종 구성 효과, 같은 업종 내 상대 성과로 분해했다.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서울약령시장</a:t>
            </a:r>
          </a:p>
          <a:p>
            <a:pPr>
              <a:lnSpc>
                <a:spcPct val="150000"/>
              </a:lnSpc>
              <a:spcAft>
                <a:spcPts val="300"/>
              </a:spcAft>
            </a:pPr>
            <a:r>
              <a:rPr sz="1200" b="0">
                <a:solidFill>
                  <a:srgbClr val="443D35"/>
                </a:solidFill>
                <a:latin typeface="Apple SD Gothic Neo"/>
                <a:ea typeface="Apple SD Gothic Neo"/>
                <a:cs typeface="Apple SD Gothic Neo"/>
              </a:rPr>
              <a:t>업종 구성 효과  +16.5%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1200" b="0">
                <a:solidFill>
                  <a:srgbClr val="8C3A1E"/>
                </a:solidFill>
                <a:latin typeface="Apple SD Gothic Neo"/>
                <a:ea typeface="Apple SD Gothic Neo"/>
                <a:cs typeface="Apple SD Gothic Neo"/>
              </a:rPr>
              <a:t>경쟁력 효과  −52.9%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6B6257"/>
                </a:solidFill>
                <a:latin typeface="Apple SD Gothic Neo"/>
                <a:ea typeface="Apple SD Gothic Neo"/>
                <a:cs typeface="Apple SD Gothic Neo"/>
              </a:rPr>
              <a:t>보유 업종은 오히려 성장하는 분야였다.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5400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6B6257"/>
                </a:solidFill>
                <a:latin typeface="Apple SD Gothic Neo"/>
                <a:ea typeface="Apple SD Gothic Neo"/>
                <a:cs typeface="Apple SD Gothic Neo"/>
              </a:rPr>
              <a:t>04  부진 원인 분해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64000"/>
            <a:ext cx="106092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모든 주요 업종이 서울 평균에 못 미친다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1655999"/>
            <a:ext cx="1655999" cy="31750"/>
          </a:xfrm>
          <a:prstGeom prst="rect">
            <a:avLst/>
          </a:prstGeom>
          <a:solidFill>
            <a:srgbClr val="2A2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2000" y="2052000"/>
          <a:ext cx="10619999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1944000"/>
                <a:gridCol w="2160000"/>
                <a:gridCol w="2160000"/>
                <a:gridCol w="1835999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매출 비중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서울약령시장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서울 전통시장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격차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청과상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−26.7%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+52.1%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−78.8%p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의약품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22.2%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−0.3%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+19.1%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−19.4%p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한의원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−27.4%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−5.4%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−22.0%p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슈퍼마켓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2.9%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−2.1%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+5.2%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−7.3%p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2000" y="4536000"/>
            <a:ext cx="9360000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443D35"/>
                </a:solidFill>
                <a:latin typeface="Apple SD Gothic Neo"/>
                <a:ea typeface="Apple SD Gothic Neo"/>
                <a:cs typeface="Apple SD Gothic Neo"/>
              </a:rPr>
              <a:t>약령시 매출의 68%는 한약재가 아니라 청과상에서 나온다. 서울 전통시장 청과상이 52% 성장한 기간에 약령시 구역은 27% 줄었다.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한방 수요 축소는 부진의 일부일 뿐이며, 집객 사업으로는 회복되지 않는다.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2D4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5760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0E2E6"/>
                </a:solidFill>
                <a:latin typeface="Apple SD Gothic Neo"/>
                <a:ea typeface="Apple SD Gothic Neo"/>
                <a:cs typeface="Apple SD Gothic Neo"/>
              </a:rPr>
              <a:t>발견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972000"/>
            <a:ext cx="1655999" cy="31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296000"/>
            <a:ext cx="6660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약령시의 부진은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품목이 아니라 입지에서 온다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4104000"/>
            <a:ext cx="63000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E0E2E6"/>
                </a:solidFill>
                <a:latin typeface="Apple SD Gothic Neo"/>
                <a:ea typeface="Apple SD Gothic Neo"/>
                <a:cs typeface="Apple SD Gothic Neo"/>
              </a:rPr>
              <a:t>업종 구성 효과가 +16.5%라는 것은 보유 업종이 서울 평균보다 잘 성장하는 분야라는 뜻이다.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E0E2E6"/>
                </a:solidFill>
                <a:latin typeface="Apple SD Gothic Neo"/>
                <a:ea typeface="Apple SD Gothic Neo"/>
                <a:cs typeface="Apple SD Gothic Neo"/>
              </a:rPr>
              <a:t>그럼에도 매출이 339억 원 줄었다. 경쟁력 효과 −52.9%가 업종의 이점을 모두 상쇄했다.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E0E2E6"/>
                </a:solidFill>
                <a:latin typeface="Apple SD Gothic Neo"/>
                <a:ea typeface="Apple SD Gothic Neo"/>
                <a:cs typeface="Apple SD Gothic Neo"/>
              </a:rPr>
              <a:t>다른 시장과 같은 활성화 처방을 적용해서는 안 된다. 업종 전환과 상권 구조 재편이 필요하다.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0000" y="1944000"/>
            <a:ext cx="3311999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−52.9%</a:t>
            </a:r>
          </a:p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E0E2E6"/>
                </a:solidFill>
                <a:latin typeface="Apple SD Gothic Neo"/>
                <a:ea typeface="Apple SD Gothic Neo"/>
                <a:cs typeface="Apple SD Gothic Neo"/>
              </a:rPr>
              <a:t>경쟁력 효과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5400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6B6257"/>
                </a:solidFill>
                <a:latin typeface="Apple SD Gothic Neo"/>
                <a:ea typeface="Apple SD Gothic Neo"/>
                <a:cs typeface="Apple SD Gothic Neo"/>
              </a:rPr>
              <a:t>05  배후 수요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64000"/>
            <a:ext cx="106092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신규 인구는 시장 도보권 밖에 자리잡았다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1655999"/>
            <a:ext cx="1655999" cy="31750"/>
          </a:xfrm>
          <a:prstGeom prst="rect">
            <a:avLst/>
          </a:prstGeom>
          <a:solidFill>
            <a:srgbClr val="2A2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2000" y="2052000"/>
          <a:ext cx="10620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000"/>
                <a:gridCol w="1368000"/>
                <a:gridCol w="1368000"/>
                <a:gridCol w="1368000"/>
                <a:gridCol w="1512000"/>
                <a:gridCol w="3420000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행정동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0~19세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20~39세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40~59세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60세 이상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주요 시설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전농1동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+22.1%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+17.9%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+21.4%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롯데캐슬 SKY-L65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용신동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+15.4%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+9.9%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+8.9%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-3.8%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한양수자인 그라시엘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청량리동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-7.4%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+4.9%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-7.1%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-10.9%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청량리종합시장 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제기동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-19.1%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-0.5%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-7.3%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-15.1%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경동시장·서울약령시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2000" y="4464000"/>
            <a:ext cx="9540000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443D35"/>
                </a:solidFill>
                <a:latin typeface="Apple SD Gothic Neo"/>
                <a:ea typeface="Apple SD Gothic Neo"/>
                <a:cs typeface="Apple SD Gothic Neo"/>
              </a:rPr>
              <a:t>2023년 청량리역 일대 약 2,800세대 입주 효과는 전농1동과 용신동에 나타났다. 경동시장과 서울약령시가 있는 제기동은 같은 기간 인구가 줄었다.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제기동 감소분은 60대 이상에 집중된다. 시장 매출의 46~72%를 차지하는 연령대다.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5400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6B6257"/>
                </a:solidFill>
                <a:latin typeface="Apple SD Gothic Neo"/>
                <a:ea typeface="Apple SD Gothic Neo"/>
                <a:cs typeface="Apple SD Gothic Neo"/>
              </a:rPr>
              <a:t>06  인과 검정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64000"/>
            <a:ext cx="106092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인구가 줄면 매출도 주는가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1655999"/>
            <a:ext cx="1655999" cy="31750"/>
          </a:xfrm>
          <a:prstGeom prst="rect">
            <a:avLst/>
          </a:prstGeom>
          <a:solidFill>
            <a:srgbClr val="2A2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2000" y="2052000"/>
          <a:ext cx="10619999" cy="9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3024000"/>
                <a:gridCol w="1296000"/>
                <a:gridCol w="1368000"/>
                <a:gridCol w="1655999"/>
                <a:gridCol w="1116000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설정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표본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관측치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추정 계수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95% 신뢰구간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R²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분기 고정효과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서울 279개 시장 × 20분기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5,444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-0.00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[-0.15, 0.15]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장기차분 2021→2025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서울 266개 시장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266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-0.25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[-0.86, 0.37]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0.002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2000" y="4104000"/>
            <a:ext cx="95400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00" b="0">
                <a:solidFill>
                  <a:srgbClr val="443D35"/>
                </a:solidFill>
                <a:latin typeface="Apple SD Gothic Neo"/>
                <a:ea typeface="Apple SD Gothic Neo"/>
                <a:cs typeface="Apple SD Gothic Neo"/>
              </a:rPr>
              <a:t>청량리 9개만으로는 표본이 작아 서울 전통시장 전체로 확대하고, 424개 행정동의 야간 생활인구를 상권 경계로 연결해 두 가지 설정으로 추정했다.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두 설정 모두 계수가 0과 구분되지 않는다. 관측치 5,444개에서 신뢰구간이 [−0.15, 0.15]로 좁아 영향이 크다는 가능성까지 배제된다.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2A2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5760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E0E2E6"/>
                </a:solidFill>
                <a:latin typeface="Apple SD Gothic Neo"/>
                <a:ea typeface="Apple SD Gothic Neo"/>
                <a:cs typeface="Apple SD Gothic Neo"/>
              </a:rPr>
              <a:t>발견 03</a:t>
            </a:r>
          </a:p>
        </p:txBody>
      </p:sp>
      <p:sp>
        <p:nvSpPr>
          <p:cNvPr id="4" name="Rectangle 3"/>
          <p:cNvSpPr/>
          <p:nvPr/>
        </p:nvSpPr>
        <p:spPr>
          <a:xfrm>
            <a:off x="792000" y="972000"/>
            <a:ext cx="1655999" cy="31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296000"/>
            <a:ext cx="6660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인구가 줄면 매출도 준다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 전제는 확인되지 않았다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4104000"/>
            <a:ext cx="63000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E0E2E6"/>
                </a:solidFill>
                <a:latin typeface="Apple SD Gothic Neo"/>
                <a:ea typeface="Apple SD Gothic Neo"/>
                <a:cs typeface="Apple SD Gothic Neo"/>
              </a:rPr>
              <a:t>제기동 배후인구 감소와 서울약령시장 매출 감소는 각각 관측된 사실이다.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E0E2E6"/>
                </a:solidFill>
                <a:latin typeface="Apple SD Gothic Neo"/>
                <a:ea typeface="Apple SD Gothic Neo"/>
                <a:cs typeface="Apple SD Gothic Neo"/>
              </a:rPr>
              <a:t>그러나 서울 279개 시장 5,444개 관측치에서 두 변수의 관계는 0과 구분되지 않는다.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E0E2E6"/>
                </a:solidFill>
                <a:latin typeface="Apple SD Gothic Neo"/>
                <a:ea typeface="Apple SD Gothic Neo"/>
                <a:cs typeface="Apple SD Gothic Neo"/>
              </a:rPr>
              <a:t>인구 지표를 근거로 매출 영향을 추정하거나 지원 규모를 산정하는 방식은 재검토가 필요하다.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0000" y="1944000"/>
            <a:ext cx="3311999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0.00</a:t>
            </a:r>
          </a:p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E0E2E6"/>
                </a:solidFill>
                <a:latin typeface="Apple SD Gothic Neo"/>
                <a:ea typeface="Apple SD Gothic Neo"/>
                <a:cs typeface="Apple SD Gothic Neo"/>
              </a:rPr>
              <a:t>배후인구-매출 추정 계수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5400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6B6257"/>
                </a:solidFill>
                <a:latin typeface="Apple SD Gothic Neo"/>
                <a:ea typeface="Apple SD Gothic Neo"/>
                <a:cs typeface="Apple SD Gothic Neo"/>
              </a:rPr>
              <a:t>07  상권 성격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64000"/>
            <a:ext cx="106092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한약재 도매는 9개 중 1개 시장뿐이다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1655999"/>
            <a:ext cx="1655999" cy="31750"/>
          </a:xfrm>
          <a:prstGeom prst="rect">
            <a:avLst/>
          </a:prstGeom>
          <a:solidFill>
            <a:srgbClr val="2A2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2000" y="2052000"/>
          <a:ext cx="630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2340000"/>
                <a:gridCol w="1440000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시장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거래 패턴 기반 유형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주말 매출 비중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동서시장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주말 소매형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청량리전통시장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주말 소매형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26.1%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청량리청과물시장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주말 소매형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서울약령시장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평일 도매형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19.3%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경동광성상가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혼합 대형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28.9%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경동시장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혼합 대형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30.2%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청량리종합시장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혼합 대형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청량리농수산물시장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근린 생필품형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23.6%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청량리수산시장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근린 생필품형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25.5%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60000" y="2160000"/>
            <a:ext cx="3816000" cy="39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300" b="0">
                <a:solidFill>
                  <a:srgbClr val="443D35"/>
                </a:solidFill>
                <a:latin typeface="Apple SD Gothic Neo"/>
                <a:ea typeface="Apple SD Gothic Neo"/>
                <a:cs typeface="Apple SD Gothic Neo"/>
              </a:rPr>
              <a:t>시간대 6개, 요일 7개, 연령대 6개로 이루어진 19차원 매출 구성비로 군집화했다.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서울약령시장만 단독 군집</a:t>
            </a:r>
          </a:p>
          <a:p>
            <a:pPr>
              <a:lnSpc>
                <a:spcPct val="150000"/>
              </a:lnSpc>
              <a:spcAft>
                <a:spcPts val="1400"/>
              </a:spcAft>
            </a:pPr>
            <a:r>
              <a:rPr sz="1200" b="0">
                <a:solidFill>
                  <a:srgbClr val="443D35"/>
                </a:solidFill>
                <a:latin typeface="Apple SD Gothic Neo"/>
                <a:ea typeface="Apple SD Gothic Neo"/>
                <a:cs typeface="Apple SD Gothic Neo"/>
              </a:rPr>
              <a:t>주말 비중 19.3%, 일요일 5.4%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6B6257"/>
                </a:solidFill>
                <a:latin typeface="Apple SD Gothic Neo"/>
                <a:ea typeface="Apple SD Gothic Neo"/>
                <a:cs typeface="Apple SD Gothic Neo"/>
              </a:rPr>
              <a:t>경동시장은 청과상 35.3%로 종합시장에 가깝고, 청과물·동서시장은 새벽 도매가 아니라 주말 소매다.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5400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6B6257"/>
                </a:solidFill>
                <a:latin typeface="Apple SD Gothic Neo"/>
                <a:ea typeface="Apple SD Gothic Neo"/>
                <a:cs typeface="Apple SD Gothic Neo"/>
              </a:rPr>
              <a:t>08  진단 지표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64000"/>
            <a:ext cx="106092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공실 통계는 갱신되지 않고 이월된다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1655999"/>
            <a:ext cx="1655999" cy="31750"/>
          </a:xfrm>
          <a:prstGeom prst="rect">
            <a:avLst/>
          </a:prstGeom>
          <a:solidFill>
            <a:srgbClr val="2A2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052000"/>
            <a:ext cx="6983999" cy="18253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6000" y="2160000"/>
            <a:ext cx="3600000" cy="3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300" b="0">
                <a:solidFill>
                  <a:srgbClr val="443D35"/>
                </a:solidFill>
                <a:latin typeface="Apple SD Gothic Neo"/>
                <a:ea typeface="Apple SD Gothic Neo"/>
                <a:cs typeface="Apple SD Gothic Neo"/>
              </a:rPr>
              <a:t>전국 1,812개 시장 15개 연도를 검증했다.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3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최근 구간 47.6%가 전년과 완전히 같은 값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sz="1200" b="0">
                <a:solidFill>
                  <a:srgbClr val="443D35"/>
                </a:solidFill>
                <a:latin typeface="Apple SD Gothic Neo"/>
                <a:ea typeface="Apple SD Gothic Neo"/>
                <a:cs typeface="Apple SD Gothic Neo"/>
              </a:rPr>
              <a:t>경동시장은 2020·2021·2022년 3개 연도가 영업 362·빈점포 316으로 동일하다. 인용되는 46.6%는 관측된 변화가 아니다.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3A1E"/>
                </a:solidFill>
                <a:latin typeface="Apple SD Gothic Neo"/>
                <a:ea typeface="Apple SD Gothic Neo"/>
                <a:cs typeface="Apple SD Gothic Neo"/>
              </a:rPr>
              <a:t>원자료 검증 없이는 정반대의 판단이 나올 수 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2E8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5400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443D35"/>
                </a:solidFill>
                <a:latin typeface="Apple SD Gothic Neo"/>
                <a:ea typeface="Apple SD Gothic Neo"/>
                <a:cs typeface="Apple SD Gothic Neo"/>
              </a:rPr>
              <a:t>09  실행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864000"/>
            <a:ext cx="106092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>
                <a:solidFill>
                  <a:srgbClr val="2A241E"/>
                </a:solidFill>
                <a:latin typeface="Apple SD Gothic Neo"/>
                <a:ea typeface="Apple SD Gothic Neo"/>
                <a:cs typeface="Apple SD Gothic Neo"/>
              </a:rPr>
              <a:t>무엇을 먼저 해야 하는가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1655999"/>
            <a:ext cx="1655999" cy="31750"/>
          </a:xfrm>
          <a:prstGeom prst="rect">
            <a:avLst/>
          </a:prstGeom>
          <a:solidFill>
            <a:srgbClr val="2A2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2000" y="2052000"/>
          <a:ext cx="10620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/>
                <a:gridCol w="3240000"/>
                <a:gridCol w="3420000"/>
                <a:gridCol w="1944000"/>
                <a:gridCol w="1224000"/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순위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과제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근거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소관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시점</a:t>
                      </a:r>
                    </a:p>
                  </a:txBody>
                  <a:tcPr anchor="ctr">
                    <a:solidFill>
                      <a:srgbClr val="2A241E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정비사업 배후인구 설계 검토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입주분이 시장 도보권 밖에 귀착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서울시·동대문구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즉시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서울약령시장 개별 진단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경쟁력 효과 −52.9%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동대문구·상인회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즉시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성과 지표 개편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집객이 고객 구성으로 미전환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사업 시행 주체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차기 설계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고령 고객 접근성 확보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제기동 60대 이상 −15.1%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동대문구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6개월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공실 통계 정합성 확인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전년 동일 기록 47.6%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소진공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6개월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객단가 하락 원인 규명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8개 시장 객단가 하락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분석 기관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43D3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후속</a:t>
                      </a:r>
                    </a:p>
                  </a:txBody>
                  <a:tcPr anchor="ctr"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